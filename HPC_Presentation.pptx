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gradFill rotWithShape="1">
          <a:gsLst>
            <a:gs pos="0">
              <a:srgbClr val="0A0A28"/>
            </a:gs>
            <a:gs pos="100000">
              <a:srgbClr val="000014"/>
            </a:gs>
          </a:gsLst>
          <a:lin scaled="0" ang="16200000"/>
        </a:gra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0"/>
            <a:ext cx="82296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400" b="1">
                <a:solidFill>
                  <a:srgbClr val="FFFFFF"/>
                </a:solidFill>
              </a:defRPr>
            </a:pPr>
            <a:r>
              <a:t>Introduction to High-Performance Computing (HPC)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384048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200">
                <a:solidFill>
                  <a:srgbClr val="64C8FF"/>
                </a:solidFill>
              </a:defRPr>
            </a:pPr>
            <a:r>
              <a:t>Supercomputers and Clusters</a:t>
            </a:r>
          </a:p>
        </p:txBody>
      </p:sp>
      <p:sp>
        <p:nvSpPr>
          <p:cNvPr id="4" name="Oval 3"/>
          <p:cNvSpPr/>
          <p:nvPr/>
        </p:nvSpPr>
        <p:spPr>
          <a:xfrm>
            <a:off x="914400" y="457200"/>
            <a:ext cx="457200" cy="457200"/>
          </a:xfrm>
          <a:prstGeom prst="ellipse">
            <a:avLst/>
          </a:prstGeom>
          <a:solidFill>
            <a:srgbClr val="0096FF"/>
          </a:solidFill>
          <a:ln w="25400">
            <a:solidFill>
              <a:srgbClr val="64C8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2560320" y="731520"/>
            <a:ext cx="457200" cy="457200"/>
          </a:xfrm>
          <a:prstGeom prst="ellipse">
            <a:avLst/>
          </a:prstGeom>
          <a:solidFill>
            <a:srgbClr val="00AAFF"/>
          </a:solidFill>
          <a:ln w="25400">
            <a:solidFill>
              <a:srgbClr val="64C8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4206240" y="457200"/>
            <a:ext cx="457200" cy="457200"/>
          </a:xfrm>
          <a:prstGeom prst="ellipse">
            <a:avLst/>
          </a:prstGeom>
          <a:solidFill>
            <a:srgbClr val="00BEFF"/>
          </a:solidFill>
          <a:ln w="25400">
            <a:solidFill>
              <a:srgbClr val="64C8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5852160" y="731520"/>
            <a:ext cx="457200" cy="457200"/>
          </a:xfrm>
          <a:prstGeom prst="ellipse">
            <a:avLst/>
          </a:prstGeom>
          <a:solidFill>
            <a:srgbClr val="00D2FF"/>
          </a:solidFill>
          <a:ln w="25400">
            <a:solidFill>
              <a:srgbClr val="64C8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7498079" y="457200"/>
            <a:ext cx="457200" cy="457200"/>
          </a:xfrm>
          <a:prstGeom prst="ellipse">
            <a:avLst/>
          </a:prstGeom>
          <a:solidFill>
            <a:srgbClr val="00E6FF"/>
          </a:solidFill>
          <a:ln w="25400">
            <a:solidFill>
              <a:srgbClr val="64C8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gradFill rotWithShape="1">
          <a:gsLst>
            <a:gs pos="0">
              <a:srgbClr val="141432"/>
            </a:gs>
            <a:gs pos="100000">
              <a:srgbClr val="0A0A1E"/>
            </a:gs>
          </a:gsLst>
          <a:lin scaled="0" ang="16200000"/>
        </a:gra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64C8FF"/>
                </a:solidFill>
              </a:defRPr>
            </a:pPr>
            <a:r>
              <a:t>What is HPC?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371600"/>
            <a:ext cx="73152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200"/>
              </a:spcBef>
              <a:defRPr sz="2400">
                <a:solidFill>
                  <a:srgbClr val="FFFFFF"/>
                </a:solidFill>
              </a:defRPr>
            </a:pPr>
            <a:r>
              <a:t>• HPC = High-Performance Computing</a:t>
            </a:r>
          </a:p>
          <a:p>
            <a:pPr>
              <a:spcBef>
                <a:spcPts val="1200"/>
              </a:spcBef>
              <a:defRPr sz="2400">
                <a:solidFill>
                  <a:srgbClr val="FFFFFF"/>
                </a:solidFill>
              </a:defRPr>
            </a:pPr>
            <a:r>
              <a:t>• Uses supercomputers and clusters for complex tasks</a:t>
            </a:r>
          </a:p>
          <a:p>
            <a:pPr>
              <a:spcBef>
                <a:spcPts val="1200"/>
              </a:spcBef>
              <a:defRPr sz="2400">
                <a:solidFill>
                  <a:srgbClr val="FFFFFF"/>
                </a:solidFill>
              </a:defRPr>
            </a:pPr>
            <a:r>
              <a:t>• Handles massive data and simulations</a:t>
            </a:r>
          </a:p>
          <a:p>
            <a:pPr>
              <a:spcBef>
                <a:spcPts val="1200"/>
              </a:spcBef>
              <a:defRPr sz="2400">
                <a:solidFill>
                  <a:srgbClr val="FFFFFF"/>
                </a:solidFill>
              </a:defRPr>
            </a:pPr>
            <a:r>
              <a:t>• Processes millions of calculations per second</a:t>
            </a:r>
          </a:p>
          <a:p>
            <a:pPr>
              <a:spcBef>
                <a:spcPts val="1200"/>
              </a:spcBef>
              <a:defRPr sz="2400">
                <a:solidFill>
                  <a:srgbClr val="FFFFFF"/>
                </a:solidFill>
              </a:defRPr>
            </a:pPr>
            <a:r>
              <a:t>• Enables breakthrough scientific discoveries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14400" y="5029200"/>
            <a:ext cx="2011680" cy="1097280"/>
          </a:xfrm>
          <a:prstGeom prst="roundRect">
            <a:avLst/>
          </a:prstGeom>
          <a:solidFill>
            <a:srgbClr val="1E3C64"/>
          </a:solidFill>
          <a:ln w="25400">
            <a:solidFill>
              <a:srgbClr val="009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Supercomputers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474720" y="5029200"/>
            <a:ext cx="2011680" cy="1097280"/>
          </a:xfrm>
          <a:prstGeom prst="roundRect">
            <a:avLst/>
          </a:prstGeom>
          <a:solidFill>
            <a:srgbClr val="1E3C64"/>
          </a:solidFill>
          <a:ln w="25400">
            <a:solidFill>
              <a:srgbClr val="009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Clusters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035040" y="5029200"/>
            <a:ext cx="2011680" cy="1097280"/>
          </a:xfrm>
          <a:prstGeom prst="roundRect">
            <a:avLst/>
          </a:prstGeom>
          <a:solidFill>
            <a:srgbClr val="1E3C64"/>
          </a:solidFill>
          <a:ln w="25400">
            <a:solidFill>
              <a:srgbClr val="009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Parallel Processing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gradFill rotWithShape="1">
          <a:gsLst>
            <a:gs pos="0">
              <a:srgbClr val="0F1E32"/>
            </a:gs>
            <a:gs pos="100000">
              <a:srgbClr val="050F23"/>
            </a:gs>
          </a:gsLst>
          <a:lin scaled="0" ang="16200000"/>
        </a:gra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64C8FF"/>
                </a:solidFill>
              </a:defRPr>
            </a:pPr>
            <a:r>
              <a:t>Brief History of HPC</a:t>
            </a:r>
          </a:p>
        </p:txBody>
      </p:sp>
      <p:sp>
        <p:nvSpPr>
          <p:cNvPr id="3" name="Oval 2"/>
          <p:cNvSpPr/>
          <p:nvPr/>
        </p:nvSpPr>
        <p:spPr>
          <a:xfrm>
            <a:off x="1554480" y="2286000"/>
            <a:ext cx="365760" cy="365760"/>
          </a:xfrm>
          <a:prstGeom prst="ellipse">
            <a:avLst/>
          </a:prstGeom>
          <a:solidFill>
            <a:srgbClr val="FFC800"/>
          </a:solidFill>
          <a:ln w="381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1828800"/>
            <a:ext cx="12801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000" b="1">
                <a:solidFill>
                  <a:srgbClr val="FFC800"/>
                </a:solidFill>
              </a:defRPr>
            </a:pPr>
            <a:r>
              <a:t>1940s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926080"/>
            <a:ext cx="1828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FFFFFF"/>
                </a:solidFill>
              </a:defRPr>
            </a:pPr>
            <a:r>
              <a:t>Early computers</a:t>
            </a:r>
          </a:p>
          <a:p>
            <a:r>
              <a:t>(ENIAC, UNIVAC)</a:t>
            </a:r>
          </a:p>
        </p:txBody>
      </p:sp>
      <p:sp>
        <p:nvSpPr>
          <p:cNvPr id="6" name="Oval 5"/>
          <p:cNvSpPr/>
          <p:nvPr/>
        </p:nvSpPr>
        <p:spPr>
          <a:xfrm>
            <a:off x="3566160" y="2286000"/>
            <a:ext cx="365760" cy="365760"/>
          </a:xfrm>
          <a:prstGeom prst="ellipse">
            <a:avLst/>
          </a:prstGeom>
          <a:solidFill>
            <a:srgbClr val="FFC800"/>
          </a:solidFill>
          <a:ln w="381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108960" y="1828800"/>
            <a:ext cx="12801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000" b="1">
                <a:solidFill>
                  <a:srgbClr val="FFC800"/>
                </a:solidFill>
              </a:defRPr>
            </a:pPr>
            <a:r>
              <a:t>1960s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26080" y="2926080"/>
            <a:ext cx="1828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FFFFFF"/>
                </a:solidFill>
              </a:defRPr>
            </a:pPr>
            <a:r>
              <a:t>Supercomputers emerge</a:t>
            </a:r>
          </a:p>
          <a:p>
            <a:r>
              <a:t>(CDC 6600)</a:t>
            </a:r>
          </a:p>
        </p:txBody>
      </p:sp>
      <p:sp>
        <p:nvSpPr>
          <p:cNvPr id="9" name="Oval 8"/>
          <p:cNvSpPr/>
          <p:nvPr/>
        </p:nvSpPr>
        <p:spPr>
          <a:xfrm>
            <a:off x="5577840" y="2286000"/>
            <a:ext cx="365760" cy="365760"/>
          </a:xfrm>
          <a:prstGeom prst="ellipse">
            <a:avLst/>
          </a:prstGeom>
          <a:solidFill>
            <a:srgbClr val="FFC800"/>
          </a:solidFill>
          <a:ln w="381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120640" y="1828800"/>
            <a:ext cx="12801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000" b="1">
                <a:solidFill>
                  <a:srgbClr val="FFC800"/>
                </a:solidFill>
              </a:defRPr>
            </a:pPr>
            <a:r>
              <a:t>1990s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937760" y="2926080"/>
            <a:ext cx="1828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FFFFFF"/>
                </a:solidFill>
              </a:defRPr>
            </a:pPr>
            <a:r>
              <a:t>Clusters rise</a:t>
            </a:r>
          </a:p>
          <a:p>
            <a:r>
              <a:t>(Beowulf systems)</a:t>
            </a:r>
          </a:p>
        </p:txBody>
      </p:sp>
      <p:sp>
        <p:nvSpPr>
          <p:cNvPr id="12" name="Oval 11"/>
          <p:cNvSpPr/>
          <p:nvPr/>
        </p:nvSpPr>
        <p:spPr>
          <a:xfrm>
            <a:off x="7589520" y="2286000"/>
            <a:ext cx="365760" cy="365760"/>
          </a:xfrm>
          <a:prstGeom prst="ellipse">
            <a:avLst/>
          </a:prstGeom>
          <a:solidFill>
            <a:srgbClr val="FFC800"/>
          </a:solidFill>
          <a:ln w="381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132320" y="1828800"/>
            <a:ext cx="12801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000" b="1">
                <a:solidFill>
                  <a:srgbClr val="FFC800"/>
                </a:solidFill>
              </a:defRPr>
            </a:pPr>
            <a:r>
              <a:t>Today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49440" y="2926080"/>
            <a:ext cx="1828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FFFFFF"/>
                </a:solidFill>
              </a:defRPr>
            </a:pPr>
            <a:r>
              <a:t>Exascale power</a:t>
            </a:r>
          </a:p>
          <a:p>
            <a:r>
              <a:t>(Frontier, Aurora)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1371600" y="2468880"/>
            <a:ext cx="6858000" cy="0"/>
          </a:xfrm>
          <a:prstGeom prst="line">
            <a:avLst/>
          </a:prstGeom>
          <a:ln w="38100">
            <a:solidFill>
              <a:srgbClr val="64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gradFill rotWithShape="1">
          <a:gsLst>
            <a:gs pos="0">
              <a:srgbClr val="14283C"/>
            </a:gs>
            <a:gs pos="100000">
              <a:srgbClr val="0A1428"/>
            </a:gs>
          </a:gsLst>
          <a:lin scaled="0" ang="16200000"/>
        </a:gra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64C8FF"/>
                </a:solidFill>
              </a:defRPr>
            </a:pPr>
            <a:r>
              <a:t>Why HPC Matters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1097280" y="1828800"/>
            <a:ext cx="2194560" cy="1645920"/>
          </a:xfrm>
          <a:prstGeom prst="roundRect">
            <a:avLst/>
          </a:prstGeom>
          <a:solidFill>
            <a:srgbClr val="3296FF"/>
          </a:solidFill>
          <a:ln w="254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000" b="1">
                <a:solidFill>
                  <a:srgbClr val="FFFFFF"/>
                </a:solidFill>
              </a:defRPr>
            </a:pPr>
            <a:r>
              <a:t>Weather</a:t>
            </a:r>
          </a:p>
          <a:p>
            <a:r>
              <a:t>Prediction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657600" y="1828800"/>
            <a:ext cx="2194560" cy="1645920"/>
          </a:xfrm>
          <a:prstGeom prst="roundRect">
            <a:avLst/>
          </a:prstGeom>
          <a:solidFill>
            <a:srgbClr val="9632FF"/>
          </a:solidFill>
          <a:ln w="254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000" b="1">
                <a:solidFill>
                  <a:srgbClr val="FFFFFF"/>
                </a:solidFill>
              </a:defRPr>
            </a:pPr>
            <a:r>
              <a:t>Drug</a:t>
            </a:r>
          </a:p>
          <a:p>
            <a:r>
              <a:t>Design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17920" y="1828800"/>
            <a:ext cx="2194560" cy="1645920"/>
          </a:xfrm>
          <a:prstGeom prst="roundRect">
            <a:avLst/>
          </a:prstGeom>
          <a:solidFill>
            <a:srgbClr val="FF6432"/>
          </a:solidFill>
          <a:ln w="254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000" b="1">
                <a:solidFill>
                  <a:srgbClr val="FFFFFF"/>
                </a:solidFill>
              </a:defRPr>
            </a:pPr>
            <a:r>
              <a:t>AI Training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097280" y="3840480"/>
            <a:ext cx="2194560" cy="1645920"/>
          </a:xfrm>
          <a:prstGeom prst="roundRect">
            <a:avLst/>
          </a:prstGeom>
          <a:solidFill>
            <a:srgbClr val="32FF96"/>
          </a:solidFill>
          <a:ln w="254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000" b="1">
                <a:solidFill>
                  <a:srgbClr val="FFFFFF"/>
                </a:solidFill>
              </a:defRPr>
            </a:pPr>
            <a:r>
              <a:t>Climate</a:t>
            </a:r>
          </a:p>
          <a:p>
            <a:r>
              <a:t>Modeling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657600" y="3840480"/>
            <a:ext cx="2194560" cy="1645920"/>
          </a:xfrm>
          <a:prstGeom prst="roundRect">
            <a:avLst/>
          </a:prstGeom>
          <a:solidFill>
            <a:srgbClr val="FFC832"/>
          </a:solidFill>
          <a:ln w="254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000" b="1">
                <a:solidFill>
                  <a:srgbClr val="FFFFFF"/>
                </a:solidFill>
              </a:defRPr>
            </a:pPr>
            <a:r>
              <a:t>Genomics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3840480"/>
            <a:ext cx="2194560" cy="1645920"/>
          </a:xfrm>
          <a:prstGeom prst="roundRect">
            <a:avLst/>
          </a:prstGeom>
          <a:solidFill>
            <a:srgbClr val="C864FF"/>
          </a:solidFill>
          <a:ln w="254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000" b="1">
                <a:solidFill>
                  <a:srgbClr val="FFFFFF"/>
                </a:solidFill>
              </a:defRPr>
            </a:pPr>
            <a:r>
              <a:t>Astrophysics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gradFill rotWithShape="1">
          <a:gsLst>
            <a:gs pos="0">
              <a:srgbClr val="19193C"/>
            </a:gs>
            <a:gs pos="100000">
              <a:srgbClr val="0F0F28"/>
            </a:gs>
          </a:gsLst>
          <a:lin scaled="0" ang="16200000"/>
        </a:gra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64C8FF"/>
                </a:solidFill>
              </a:defRPr>
            </a:pPr>
            <a:r>
              <a:t>Connection to Computer Architecture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371600"/>
            <a:ext cx="7315200" cy="3200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Bef>
                <a:spcPts val="1000"/>
              </a:spcBef>
              <a:defRPr sz="2000">
                <a:solidFill>
                  <a:srgbClr val="FFFFFF"/>
                </a:solidFill>
              </a:defRPr>
            </a:pPr>
            <a:r>
              <a:t>• Parallel Processing: Multiple operations simultaneously</a:t>
            </a:r>
          </a:p>
          <a:p>
            <a:pPr>
              <a:spcBef>
                <a:spcPts val="1000"/>
              </a:spcBef>
              <a:defRPr sz="2000">
                <a:solidFill>
                  <a:srgbClr val="FFFFFF"/>
                </a:solidFill>
              </a:defRPr>
            </a:pPr>
            <a:r>
              <a:t>• Multi-core CPUs: Dozens to hundreds of cores per chip</a:t>
            </a:r>
          </a:p>
          <a:p>
            <a:pPr>
              <a:spcBef>
                <a:spcPts val="1000"/>
              </a:spcBef>
              <a:defRPr sz="2000">
                <a:solidFill>
                  <a:srgbClr val="FFFFFF"/>
                </a:solidFill>
              </a:defRPr>
            </a:pPr>
            <a:r>
              <a:t>• GPUs: Thousands of cores for massive parallelism</a:t>
            </a:r>
          </a:p>
          <a:p>
            <a:pPr>
              <a:spcBef>
                <a:spcPts val="1000"/>
              </a:spcBef>
              <a:defRPr sz="2000">
                <a:solidFill>
                  <a:srgbClr val="FFFFFF"/>
                </a:solidFill>
              </a:defRPr>
            </a:pPr>
            <a:r>
              <a:t>• Distributed Memory: Shared and distributed architectures</a:t>
            </a:r>
          </a:p>
          <a:p>
            <a:pPr>
              <a:spcBef>
                <a:spcPts val="1000"/>
              </a:spcBef>
              <a:defRPr sz="2000">
                <a:solidFill>
                  <a:srgbClr val="FFFFFF"/>
                </a:solidFill>
              </a:defRPr>
            </a:pPr>
            <a:r>
              <a:t>• High-speed Interconnects: InfiniBand, custom fabrics</a:t>
            </a:r>
          </a:p>
          <a:p>
            <a:pPr>
              <a:spcBef>
                <a:spcPts val="1000"/>
              </a:spcBef>
              <a:defRPr sz="2000">
                <a:solidFill>
                  <a:srgbClr val="FFFFFF"/>
                </a:solidFill>
              </a:defRPr>
            </a:pPr>
            <a:r>
              <a:t>• Cache Hierarchies: Optimized memory access patterns</a:t>
            </a:r>
          </a:p>
        </p:txBody>
      </p:sp>
      <p:sp>
        <p:nvSpPr>
          <p:cNvPr id="4" name="Rectangle 3"/>
          <p:cNvSpPr/>
          <p:nvPr/>
        </p:nvSpPr>
        <p:spPr>
          <a:xfrm>
            <a:off x="1371600" y="5029200"/>
            <a:ext cx="1371600" cy="914400"/>
          </a:xfrm>
          <a:prstGeom prst="rect">
            <a:avLst/>
          </a:prstGeom>
          <a:solidFill>
            <a:srgbClr val="FF6464"/>
          </a:solidFill>
          <a:ln w="254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 b="1">
                <a:solidFill>
                  <a:srgbClr val="000000"/>
                </a:solidFill>
              </a:defRPr>
            </a:pPr>
            <a:r>
              <a:t>CPU</a:t>
            </a:r>
          </a:p>
        </p:txBody>
      </p:sp>
      <p:sp>
        <p:nvSpPr>
          <p:cNvPr id="5" name="Rectangle 4"/>
          <p:cNvSpPr/>
          <p:nvPr/>
        </p:nvSpPr>
        <p:spPr>
          <a:xfrm>
            <a:off x="3017520" y="5029200"/>
            <a:ext cx="1371600" cy="914400"/>
          </a:xfrm>
          <a:prstGeom prst="rect">
            <a:avLst/>
          </a:prstGeom>
          <a:solidFill>
            <a:srgbClr val="64FF64"/>
          </a:solidFill>
          <a:ln w="254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 b="1">
                <a:solidFill>
                  <a:srgbClr val="000000"/>
                </a:solidFill>
              </a:defRPr>
            </a:pPr>
            <a:r>
              <a:t>GPU</a:t>
            </a:r>
          </a:p>
        </p:txBody>
      </p:sp>
      <p:sp>
        <p:nvSpPr>
          <p:cNvPr id="6" name="Rectangle 5"/>
          <p:cNvSpPr/>
          <p:nvPr/>
        </p:nvSpPr>
        <p:spPr>
          <a:xfrm>
            <a:off x="4663440" y="5029200"/>
            <a:ext cx="1371600" cy="914400"/>
          </a:xfrm>
          <a:prstGeom prst="rect">
            <a:avLst/>
          </a:prstGeom>
          <a:solidFill>
            <a:srgbClr val="6464FF"/>
          </a:solidFill>
          <a:ln w="254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 b="1">
                <a:solidFill>
                  <a:srgbClr val="000000"/>
                </a:solidFill>
              </a:defRPr>
            </a:pPr>
            <a:r>
              <a:t>Memory</a:t>
            </a:r>
          </a:p>
        </p:txBody>
      </p:sp>
      <p:sp>
        <p:nvSpPr>
          <p:cNvPr id="7" name="Rectangle 6"/>
          <p:cNvSpPr/>
          <p:nvPr/>
        </p:nvSpPr>
        <p:spPr>
          <a:xfrm>
            <a:off x="6309360" y="5029200"/>
            <a:ext cx="1371600" cy="914400"/>
          </a:xfrm>
          <a:prstGeom prst="rect">
            <a:avLst/>
          </a:prstGeom>
          <a:solidFill>
            <a:srgbClr val="FFFF64"/>
          </a:solidFill>
          <a:ln w="254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 b="1">
                <a:solidFill>
                  <a:srgbClr val="000000"/>
                </a:solidFill>
              </a:defRPr>
            </a:pPr>
            <a:r>
              <a:t>Network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gradFill rotWithShape="1">
          <a:gsLst>
            <a:gs pos="0">
              <a:srgbClr val="1E1432"/>
            </a:gs>
            <a:gs pos="100000">
              <a:srgbClr val="0F0A1E"/>
            </a:gs>
          </a:gsLst>
          <a:lin scaled="0" ang="16200000"/>
        </a:gra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64C8FF"/>
                </a:solidFill>
              </a:defRPr>
            </a:pPr>
            <a:r>
              <a:t>Supercomputers vs. Clusters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645920"/>
            <a:ext cx="3657600" cy="4114800"/>
          </a:xfrm>
          <a:prstGeom prst="roundRect">
            <a:avLst/>
          </a:prstGeom>
          <a:solidFill>
            <a:srgbClr val="3C1E64"/>
          </a:solidFill>
          <a:ln w="38100">
            <a:solidFill>
              <a:srgbClr val="966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200" b="1">
                <a:solidFill>
                  <a:srgbClr val="FFC800"/>
                </a:solidFill>
              </a:defRPr>
            </a:pPr>
            <a:r>
              <a:t>SUPERCOMPUTERS</a:t>
            </a:r>
          </a:p>
          <a:p>
            <a:pPr>
              <a:spcBef>
                <a:spcPts val="800"/>
              </a:spcBef>
              <a:defRPr sz="1600">
                <a:solidFill>
                  <a:srgbClr val="FFFFFF"/>
                </a:solidFill>
              </a:defRPr>
            </a:pPr>
            <a:r>
              <a:t>• Massive scale</a:t>
            </a:r>
          </a:p>
          <a:p>
            <a:pPr>
              <a:spcBef>
                <a:spcPts val="800"/>
              </a:spcBef>
              <a:defRPr sz="1600">
                <a:solidFill>
                  <a:srgbClr val="FFFFFF"/>
                </a:solidFill>
              </a:defRPr>
            </a:pPr>
            <a:r>
              <a:t>• Centralized systems</a:t>
            </a:r>
          </a:p>
          <a:p>
            <a:pPr>
              <a:spcBef>
                <a:spcPts val="800"/>
              </a:spcBef>
              <a:defRPr sz="1600">
                <a:solidFill>
                  <a:srgbClr val="FFFFFF"/>
                </a:solidFill>
              </a:defRPr>
            </a:pPr>
            <a:r>
              <a:t>• Custom hardware</a:t>
            </a:r>
          </a:p>
          <a:p>
            <a:pPr>
              <a:spcBef>
                <a:spcPts val="800"/>
              </a:spcBef>
              <a:defRPr sz="1600">
                <a:solidFill>
                  <a:srgbClr val="FFFFFF"/>
                </a:solidFill>
              </a:defRPr>
            </a:pPr>
            <a:r>
              <a:t>• Very high cost</a:t>
            </a:r>
          </a:p>
          <a:p>
            <a:pPr>
              <a:spcBef>
                <a:spcPts val="800"/>
              </a:spcBef>
              <a:defRPr sz="1600">
                <a:solidFill>
                  <a:srgbClr val="FFFFFF"/>
                </a:solidFill>
              </a:defRPr>
            </a:pPr>
            <a:r>
              <a:t>• Peak performance</a:t>
            </a:r>
          </a:p>
          <a:p>
            <a:pPr>
              <a:spcBef>
                <a:spcPts val="800"/>
              </a:spcBef>
              <a:defRPr sz="1600">
                <a:solidFill>
                  <a:srgbClr val="FFFFFF"/>
                </a:solidFill>
              </a:defRPr>
            </a:pPr>
            <a:r>
              <a:t>• Specialized cooling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754880" y="1645920"/>
            <a:ext cx="3657600" cy="4114800"/>
          </a:xfrm>
          <a:prstGeom prst="roundRect">
            <a:avLst/>
          </a:prstGeom>
          <a:solidFill>
            <a:srgbClr val="1E3C64"/>
          </a:solidFill>
          <a:ln w="38100">
            <a:solidFill>
              <a:srgbClr val="64C8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200" b="1">
                <a:solidFill>
                  <a:srgbClr val="64FFC8"/>
                </a:solidFill>
              </a:defRPr>
            </a:pPr>
            <a:r>
              <a:t>CLUSTERS</a:t>
            </a:r>
          </a:p>
          <a:p>
            <a:pPr>
              <a:spcBef>
                <a:spcPts val="800"/>
              </a:spcBef>
              <a:defRPr sz="1600">
                <a:solidFill>
                  <a:srgbClr val="FFFFFF"/>
                </a:solidFill>
              </a:defRPr>
            </a:pPr>
            <a:r>
              <a:t>• Distributed nodes</a:t>
            </a:r>
          </a:p>
          <a:p>
            <a:pPr>
              <a:spcBef>
                <a:spcPts val="800"/>
              </a:spcBef>
              <a:defRPr sz="1600">
                <a:solidFill>
                  <a:srgbClr val="FFFFFF"/>
                </a:solidFill>
              </a:defRPr>
            </a:pPr>
            <a:r>
              <a:t>• Commodity hardware</a:t>
            </a:r>
          </a:p>
          <a:p>
            <a:pPr>
              <a:spcBef>
                <a:spcPts val="800"/>
              </a:spcBef>
              <a:defRPr sz="1600">
                <a:solidFill>
                  <a:srgbClr val="FFFFFF"/>
                </a:solidFill>
              </a:defRPr>
            </a:pPr>
            <a:r>
              <a:t>• Modular design</a:t>
            </a:r>
          </a:p>
          <a:p>
            <a:pPr>
              <a:spcBef>
                <a:spcPts val="800"/>
              </a:spcBef>
              <a:defRPr sz="1600">
                <a:solidFill>
                  <a:srgbClr val="FFFFFF"/>
                </a:solidFill>
              </a:defRPr>
            </a:pPr>
            <a:r>
              <a:t>• Cost-effective</a:t>
            </a:r>
          </a:p>
          <a:p>
            <a:pPr>
              <a:spcBef>
                <a:spcPts val="800"/>
              </a:spcBef>
              <a:defRPr sz="1600">
                <a:solidFill>
                  <a:srgbClr val="FFFFFF"/>
                </a:solidFill>
              </a:defRPr>
            </a:pPr>
            <a:r>
              <a:t>• Highly scalable</a:t>
            </a:r>
          </a:p>
          <a:p>
            <a:pPr>
              <a:spcBef>
                <a:spcPts val="800"/>
              </a:spcBef>
              <a:defRPr sz="1600">
                <a:solidFill>
                  <a:srgbClr val="FFFFFF"/>
                </a:solidFill>
              </a:defRPr>
            </a:pPr>
            <a:r>
              <a:t>• Standard cooling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gradFill rotWithShape="1">
          <a:gsLst>
            <a:gs pos="0">
              <a:srgbClr val="142337"/>
            </a:gs>
            <a:gs pos="100000">
              <a:srgbClr val="0A1423"/>
            </a:gs>
          </a:gsLst>
          <a:lin scaled="0" ang="16200000"/>
        </a:gra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64C8FF"/>
                </a:solidFill>
              </a:defRPr>
            </a:pPr>
            <a:r>
              <a:t>Types of HPC Systems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914400" y="1828800"/>
            <a:ext cx="3474720" cy="1828800"/>
          </a:xfrm>
          <a:prstGeom prst="roundRect">
            <a:avLst/>
          </a:prstGeom>
          <a:solidFill>
            <a:srgbClr val="FF6464"/>
          </a:solidFill>
          <a:ln w="381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000" b="1">
                <a:solidFill>
                  <a:srgbClr val="000000"/>
                </a:solidFill>
              </a:defRPr>
            </a:pPr>
            <a:r>
              <a:t>Vector</a:t>
            </a:r>
          </a:p>
          <a:p>
            <a:r>
              <a:t>Supercomputers</a:t>
            </a:r>
          </a:p>
          <a:p>
            <a:pPr algn="ctr">
              <a:spcBef>
                <a:spcPts val="800"/>
              </a:spcBef>
              <a:defRPr sz="1400">
                <a:solidFill>
                  <a:srgbClr val="000000"/>
                </a:solidFill>
              </a:defRPr>
            </a:pPr>
            <a:r>
              <a:t>Single instruction,</a:t>
            </a:r>
            <a:br/>
            <a:r>
              <a:t>multiple data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0" y="1828800"/>
            <a:ext cx="3474720" cy="1828800"/>
          </a:xfrm>
          <a:prstGeom prst="roundRect">
            <a:avLst/>
          </a:prstGeom>
          <a:solidFill>
            <a:srgbClr val="64FF64"/>
          </a:solidFill>
          <a:ln w="381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000" b="1">
                <a:solidFill>
                  <a:srgbClr val="000000"/>
                </a:solidFill>
              </a:defRPr>
            </a:pPr>
            <a:r>
              <a:t>Massively Parallel</a:t>
            </a:r>
          </a:p>
          <a:p>
            <a:r>
              <a:t>Processors</a:t>
            </a:r>
          </a:p>
          <a:p>
            <a:pPr algn="ctr">
              <a:spcBef>
                <a:spcPts val="800"/>
              </a:spcBef>
              <a:defRPr sz="1400">
                <a:solidFill>
                  <a:srgbClr val="000000"/>
                </a:solidFill>
              </a:defRPr>
            </a:pPr>
            <a:r>
              <a:t>Thousands of</a:t>
            </a:r>
            <a:br/>
            <a:r>
              <a:t>processors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14400" y="4114800"/>
            <a:ext cx="3474720" cy="1828800"/>
          </a:xfrm>
          <a:prstGeom prst="roundRect">
            <a:avLst/>
          </a:prstGeom>
          <a:solidFill>
            <a:srgbClr val="6496FF"/>
          </a:solidFill>
          <a:ln w="381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000" b="1">
                <a:solidFill>
                  <a:srgbClr val="000000"/>
                </a:solidFill>
              </a:defRPr>
            </a:pPr>
            <a:r>
              <a:t>Grid Computing</a:t>
            </a:r>
          </a:p>
          <a:p>
            <a:pPr algn="ctr">
              <a:spcBef>
                <a:spcPts val="800"/>
              </a:spcBef>
              <a:defRPr sz="1400">
                <a:solidFill>
                  <a:srgbClr val="000000"/>
                </a:solidFill>
              </a:defRPr>
            </a:pPr>
            <a:r>
              <a:t>Distributed</a:t>
            </a:r>
            <a:br/>
            <a:r>
              <a:t>resources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0" y="4114800"/>
            <a:ext cx="3474720" cy="1828800"/>
          </a:xfrm>
          <a:prstGeom prst="roundRect">
            <a:avLst/>
          </a:prstGeom>
          <a:solidFill>
            <a:srgbClr val="FFC864"/>
          </a:solidFill>
          <a:ln w="381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000" b="1">
                <a:solidFill>
                  <a:srgbClr val="000000"/>
                </a:solidFill>
              </a:defRPr>
            </a:pPr>
            <a:r>
              <a:t>Cloud Clusters</a:t>
            </a:r>
          </a:p>
          <a:p>
            <a:pPr algn="ctr">
              <a:spcBef>
                <a:spcPts val="800"/>
              </a:spcBef>
              <a:defRPr sz="1400">
                <a:solidFill>
                  <a:srgbClr val="000000"/>
                </a:solidFill>
              </a:defRPr>
            </a:pPr>
            <a:r>
              <a:t>Elastic, on-demand</a:t>
            </a:r>
            <a:br/>
            <a:r>
              <a:t>computing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gradFill rotWithShape="1">
          <a:gsLst>
            <a:gs pos="0">
              <a:srgbClr val="3C1414"/>
            </a:gs>
            <a:gs pos="100000">
              <a:srgbClr val="280A0A"/>
            </a:gs>
          </a:gsLst>
          <a:lin scaled="0" ang="16200000"/>
        </a:gra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FFC8C8"/>
                </a:solidFill>
              </a:defRPr>
            </a:pPr>
            <a:r>
              <a:t>HPC Challenges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1097280" y="1828800"/>
            <a:ext cx="3291840" cy="1828800"/>
          </a:xfrm>
          <a:prstGeom prst="roundRect">
            <a:avLst/>
          </a:prstGeom>
          <a:solidFill>
            <a:srgbClr val="641E1E"/>
          </a:solidFill>
          <a:ln w="38100">
            <a:solidFill>
              <a:srgbClr val="FF64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000" b="1">
                <a:solidFill>
                  <a:srgbClr val="FFC8C8"/>
                </a:solidFill>
              </a:defRPr>
            </a:pPr>
            <a:r>
              <a:t>⚡ Power</a:t>
            </a:r>
          </a:p>
          <a:p>
            <a:r>
              <a:t>Consumption</a:t>
            </a:r>
          </a:p>
          <a:p>
            <a:pPr algn="ctr">
              <a:spcBef>
                <a:spcPts val="800"/>
              </a:spcBef>
              <a:defRPr sz="1400">
                <a:solidFill>
                  <a:srgbClr val="FFFFFF"/>
                </a:solidFill>
              </a:defRPr>
            </a:pPr>
            <a:r>
              <a:t>Megawatts of</a:t>
            </a:r>
            <a:br/>
            <a:r>
              <a:t>electricity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937760" y="1828800"/>
            <a:ext cx="3291840" cy="1828800"/>
          </a:xfrm>
          <a:prstGeom prst="roundRect">
            <a:avLst/>
          </a:prstGeom>
          <a:solidFill>
            <a:srgbClr val="641E1E"/>
          </a:solidFill>
          <a:ln w="38100">
            <a:solidFill>
              <a:srgbClr val="FF64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000" b="1">
                <a:solidFill>
                  <a:srgbClr val="FFC8C8"/>
                </a:solidFill>
              </a:defRPr>
            </a:pPr>
            <a:r>
              <a:t>🔥 Heat</a:t>
            </a:r>
          </a:p>
          <a:p>
            <a:r>
              <a:t>Management</a:t>
            </a:r>
          </a:p>
          <a:p>
            <a:pPr algn="ctr">
              <a:spcBef>
                <a:spcPts val="800"/>
              </a:spcBef>
              <a:defRPr sz="1400">
                <a:solidFill>
                  <a:srgbClr val="FFFFFF"/>
                </a:solidFill>
              </a:defRPr>
            </a:pPr>
            <a:r>
              <a:t>Cooling systems</a:t>
            </a:r>
            <a:br/>
            <a:r>
              <a:t>critical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97280" y="4114800"/>
            <a:ext cx="3291840" cy="1828800"/>
          </a:xfrm>
          <a:prstGeom prst="roundRect">
            <a:avLst/>
          </a:prstGeom>
          <a:solidFill>
            <a:srgbClr val="641E1E"/>
          </a:solidFill>
          <a:ln w="38100">
            <a:solidFill>
              <a:srgbClr val="FF64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000" b="1">
                <a:solidFill>
                  <a:srgbClr val="FFC8C8"/>
                </a:solidFill>
              </a:defRPr>
            </a:pPr>
            <a:r>
              <a:t>📊 Data</a:t>
            </a:r>
          </a:p>
          <a:p>
            <a:r>
              <a:t>Bottlenecks</a:t>
            </a:r>
          </a:p>
          <a:p>
            <a:pPr algn="ctr">
              <a:spcBef>
                <a:spcPts val="800"/>
              </a:spcBef>
              <a:defRPr sz="1400">
                <a:solidFill>
                  <a:srgbClr val="FFFFFF"/>
                </a:solidFill>
              </a:defRPr>
            </a:pPr>
            <a:r>
              <a:t>I/O bandwidth</a:t>
            </a:r>
            <a:br/>
            <a:r>
              <a:t>limits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937760" y="4114800"/>
            <a:ext cx="3291840" cy="1828800"/>
          </a:xfrm>
          <a:prstGeom prst="roundRect">
            <a:avLst/>
          </a:prstGeom>
          <a:solidFill>
            <a:srgbClr val="641E1E"/>
          </a:solidFill>
          <a:ln w="38100">
            <a:solidFill>
              <a:srgbClr val="FF64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000" b="1">
                <a:solidFill>
                  <a:srgbClr val="FFC8C8"/>
                </a:solidFill>
              </a:defRPr>
            </a:pPr>
            <a:r>
              <a:t>📈 Scalability</a:t>
            </a:r>
          </a:p>
          <a:p>
            <a:r>
              <a:t>Limits</a:t>
            </a:r>
          </a:p>
          <a:p>
            <a:pPr algn="ctr">
              <a:spcBef>
                <a:spcPts val="800"/>
              </a:spcBef>
              <a:defRPr sz="1400">
                <a:solidFill>
                  <a:srgbClr val="FFFFFF"/>
                </a:solidFill>
              </a:defRPr>
            </a:pPr>
            <a:r>
              <a:t>Parallel efficiency</a:t>
            </a:r>
            <a:br/>
            <a:r>
              <a:t>decreases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gradFill rotWithShape="1">
          <a:gsLst>
            <a:gs pos="0">
              <a:srgbClr val="143C14"/>
            </a:gs>
            <a:gs pos="100000">
              <a:srgbClr val="0A280A"/>
            </a:gs>
          </a:gsLst>
          <a:lin scaled="0" ang="16200000"/>
        </a:gra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96FF96"/>
                </a:solidFill>
              </a:defRPr>
            </a:pPr>
            <a:r>
              <a:t>Solutions to HPC Challenges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1097280" y="1828800"/>
            <a:ext cx="3291840" cy="1828800"/>
          </a:xfrm>
          <a:prstGeom prst="roundRect">
            <a:avLst/>
          </a:prstGeom>
          <a:solidFill>
            <a:srgbClr val="1E641E"/>
          </a:solidFill>
          <a:ln w="38100">
            <a:solidFill>
              <a:srgbClr val="64FF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000" b="1">
                <a:solidFill>
                  <a:srgbClr val="96FF96"/>
                </a:solidFill>
              </a:defRPr>
            </a:pPr>
            <a:r>
              <a:t>💚 Energy</a:t>
            </a:r>
          </a:p>
          <a:p>
            <a:r>
              <a:t>Efficiency</a:t>
            </a:r>
          </a:p>
          <a:p>
            <a:pPr algn="ctr">
              <a:spcBef>
                <a:spcPts val="800"/>
              </a:spcBef>
              <a:defRPr sz="1400">
                <a:solidFill>
                  <a:srgbClr val="FFFFFF"/>
                </a:solidFill>
              </a:defRPr>
            </a:pPr>
            <a:r>
              <a:t>Advanced chip</a:t>
            </a:r>
            <a:br/>
            <a:r>
              <a:t>designs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937760" y="1828800"/>
            <a:ext cx="3291840" cy="1828800"/>
          </a:xfrm>
          <a:prstGeom prst="roundRect">
            <a:avLst/>
          </a:prstGeom>
          <a:solidFill>
            <a:srgbClr val="1E641E"/>
          </a:solidFill>
          <a:ln w="38100">
            <a:solidFill>
              <a:srgbClr val="64FF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000" b="1">
                <a:solidFill>
                  <a:srgbClr val="96FF96"/>
                </a:solidFill>
              </a:defRPr>
            </a:pPr>
            <a:r>
              <a:t>❄️ Advanced</a:t>
            </a:r>
          </a:p>
          <a:p>
            <a:r>
              <a:t>Cooling</a:t>
            </a:r>
          </a:p>
          <a:p>
            <a:pPr algn="ctr">
              <a:spcBef>
                <a:spcPts val="800"/>
              </a:spcBef>
              <a:defRPr sz="1400">
                <a:solidFill>
                  <a:srgbClr val="FFFFFF"/>
                </a:solidFill>
              </a:defRPr>
            </a:pPr>
            <a:r>
              <a:t>Liquid cooling</a:t>
            </a:r>
            <a:br/>
            <a:r>
              <a:t>systems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97280" y="4114800"/>
            <a:ext cx="3291840" cy="1828800"/>
          </a:xfrm>
          <a:prstGeom prst="roundRect">
            <a:avLst/>
          </a:prstGeom>
          <a:solidFill>
            <a:srgbClr val="1E641E"/>
          </a:solidFill>
          <a:ln w="38100">
            <a:solidFill>
              <a:srgbClr val="64FF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000" b="1">
                <a:solidFill>
                  <a:srgbClr val="96FF96"/>
                </a:solidFill>
              </a:defRPr>
            </a:pPr>
            <a:r>
              <a:t>⚡ Optimized</a:t>
            </a:r>
          </a:p>
          <a:p>
            <a:r>
              <a:t>Algorithms</a:t>
            </a:r>
          </a:p>
          <a:p>
            <a:pPr algn="ctr">
              <a:spcBef>
                <a:spcPts val="800"/>
              </a:spcBef>
              <a:defRPr sz="1400">
                <a:solidFill>
                  <a:srgbClr val="FFFFFF"/>
                </a:solidFill>
              </a:defRPr>
            </a:pPr>
            <a:r>
              <a:t>Better data</a:t>
            </a:r>
            <a:br/>
            <a:r>
              <a:t>locality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937760" y="4114800"/>
            <a:ext cx="3291840" cy="1828800"/>
          </a:xfrm>
          <a:prstGeom prst="roundRect">
            <a:avLst/>
          </a:prstGeom>
          <a:solidFill>
            <a:srgbClr val="1E641E"/>
          </a:solidFill>
          <a:ln w="38100">
            <a:solidFill>
              <a:srgbClr val="64FF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000" b="1">
                <a:solidFill>
                  <a:srgbClr val="96FF96"/>
                </a:solidFill>
              </a:defRPr>
            </a:pPr>
            <a:r>
              <a:t>🔄 Hybrid</a:t>
            </a:r>
          </a:p>
          <a:p>
            <a:r>
              <a:t>Architectures</a:t>
            </a:r>
          </a:p>
          <a:p>
            <a:pPr algn="ctr">
              <a:spcBef>
                <a:spcPts val="800"/>
              </a:spcBef>
              <a:defRPr sz="1400">
                <a:solidFill>
                  <a:srgbClr val="FFFFFF"/>
                </a:solidFill>
              </a:defRPr>
            </a:pPr>
            <a:r>
              <a:t>CPU + GPU</a:t>
            </a:r>
            <a:br/>
            <a:r>
              <a:t>integration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gradFill rotWithShape="1">
          <a:gsLst>
            <a:gs pos="0">
              <a:srgbClr val="1E1E3C"/>
            </a:gs>
            <a:gs pos="100000">
              <a:srgbClr val="0F0F28"/>
            </a:gs>
          </a:gsLst>
          <a:lin scaled="0" ang="16200000"/>
        </a:gra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64C8FF"/>
                </a:solidFill>
              </a:defRPr>
            </a:pPr>
            <a:r>
              <a:t>Project Analysis Summary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1828800"/>
            <a:ext cx="64008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defRPr sz="1600">
                <a:solidFill>
                  <a:srgbClr val="FFFFFF"/>
                </a:solidFill>
              </a:defRPr>
            </a:pPr>
            <a:r>
              <a:t>HPC Evolution Through Multiple Lenses:</a:t>
            </a:r>
          </a:p>
          <a:p>
            <a:pPr>
              <a:spcBef>
                <a:spcPts val="800"/>
              </a:spcBef>
              <a:defRPr sz="1600">
                <a:solidFill>
                  <a:srgbClr val="FFFFFF"/>
                </a:solidFill>
              </a:defRPr>
            </a:pPr>
          </a:p>
          <a:p>
            <a:pPr>
              <a:spcBef>
                <a:spcPts val="800"/>
              </a:spcBef>
              <a:defRPr sz="1600">
                <a:solidFill>
                  <a:srgbClr val="FFFFFF"/>
                </a:solidFill>
              </a:defRPr>
            </a:pPr>
            <a:r>
              <a:t>✓ Technology Comparison: Supercomputers vs. Clusters</a:t>
            </a:r>
          </a:p>
          <a:p>
            <a:pPr>
              <a:spcBef>
                <a:spcPts val="800"/>
              </a:spcBef>
              <a:defRPr sz="1600">
                <a:solidFill>
                  <a:srgbClr val="FFFFFF"/>
                </a:solidFill>
              </a:defRPr>
            </a:pPr>
            <a:r>
              <a:t>   • Centralized power vs. distributed flexibility</a:t>
            </a:r>
          </a:p>
          <a:p>
            <a:pPr>
              <a:spcBef>
                <a:spcPts val="800"/>
              </a:spcBef>
              <a:defRPr sz="1600">
                <a:solidFill>
                  <a:srgbClr val="FFFFFF"/>
                </a:solidFill>
              </a:defRPr>
            </a:pPr>
            <a:r>
              <a:t>   • Cost-performance trade-offs</a:t>
            </a:r>
          </a:p>
          <a:p>
            <a:pPr>
              <a:spcBef>
                <a:spcPts val="800"/>
              </a:spcBef>
              <a:defRPr sz="1600">
                <a:solidFill>
                  <a:srgbClr val="FFFFFF"/>
                </a:solidFill>
              </a:defRPr>
            </a:pPr>
          </a:p>
          <a:p>
            <a:pPr>
              <a:spcBef>
                <a:spcPts val="800"/>
              </a:spcBef>
              <a:defRPr sz="1600">
                <a:solidFill>
                  <a:srgbClr val="FFFFFF"/>
                </a:solidFill>
              </a:defRPr>
            </a:pPr>
            <a:r>
              <a:t>✓ System Classification: Four major types</a:t>
            </a:r>
          </a:p>
          <a:p>
            <a:pPr>
              <a:spcBef>
                <a:spcPts val="800"/>
              </a:spcBef>
              <a:defRPr sz="1600">
                <a:solidFill>
                  <a:srgbClr val="FFFFFF"/>
                </a:solidFill>
              </a:defRPr>
            </a:pPr>
            <a:r>
              <a:t>   • Vector, Massively Parallel, Grid, Cloud</a:t>
            </a:r>
          </a:p>
          <a:p>
            <a:pPr>
              <a:spcBef>
                <a:spcPts val="800"/>
              </a:spcBef>
              <a:defRPr sz="1600">
                <a:solidFill>
                  <a:srgbClr val="FFFFFF"/>
                </a:solidFill>
              </a:defRPr>
            </a:pPr>
          </a:p>
          <a:p>
            <a:pPr>
              <a:spcBef>
                <a:spcPts val="800"/>
              </a:spcBef>
              <a:defRPr sz="1600">
                <a:solidFill>
                  <a:srgbClr val="FFFFFF"/>
                </a:solidFill>
              </a:defRPr>
            </a:pPr>
            <a:r>
              <a:t>✓ Challenge-Solution Analysis:</a:t>
            </a:r>
          </a:p>
          <a:p>
            <a:pPr>
              <a:spcBef>
                <a:spcPts val="800"/>
              </a:spcBef>
              <a:defRPr sz="1600">
                <a:solidFill>
                  <a:srgbClr val="FFFFFF"/>
                </a:solidFill>
              </a:defRPr>
            </a:pPr>
            <a:r>
              <a:t>   • Identified critical problems (power, heat, data, scale)</a:t>
            </a:r>
          </a:p>
          <a:p>
            <a:pPr>
              <a:spcBef>
                <a:spcPts val="800"/>
              </a:spcBef>
              <a:defRPr sz="1600">
                <a:solidFill>
                  <a:srgbClr val="FFFFFF"/>
                </a:solidFill>
              </a:defRPr>
            </a:pPr>
            <a:r>
              <a:t>   • Developed innovative solutions (efficiency, cooling, optimization)</a:t>
            </a:r>
          </a:p>
          <a:p>
            <a:pPr>
              <a:spcBef>
                <a:spcPts val="800"/>
              </a:spcBef>
              <a:defRPr sz="1600">
                <a:solidFill>
                  <a:srgbClr val="FFFFFF"/>
                </a:solidFill>
              </a:defRPr>
            </a:pPr>
          </a:p>
          <a:p>
            <a:pPr>
              <a:spcBef>
                <a:spcPts val="800"/>
              </a:spcBef>
              <a:defRPr sz="1600">
                <a:solidFill>
                  <a:srgbClr val="FFFFFF"/>
                </a:solidFill>
              </a:defRPr>
            </a:pPr>
            <a:r>
              <a:t>Result: Continuous improvement driving better performance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gradFill rotWithShape="1">
          <a:gsLst>
            <a:gs pos="0">
              <a:srgbClr val="28143C"/>
            </a:gs>
            <a:gs pos="100000">
              <a:srgbClr val="140A28"/>
            </a:gs>
          </a:gsLst>
          <a:lin scaled="0" ang="16200000"/>
        </a:gra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FF96FF"/>
                </a:solidFill>
              </a:defRPr>
            </a:pPr>
            <a:r>
              <a:t>Recent Technologies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1371600" y="2286000"/>
            <a:ext cx="2194560" cy="2743200"/>
          </a:xfrm>
          <a:prstGeom prst="roundRect">
            <a:avLst/>
          </a:prstGeom>
          <a:solidFill>
            <a:srgbClr val="FF64C8"/>
          </a:solidFill>
          <a:ln w="381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000" b="1">
                <a:solidFill>
                  <a:srgbClr val="FFFFFF"/>
                </a:solidFill>
              </a:defRPr>
            </a:pPr>
            <a:r>
              <a:t>Exascale Systems</a:t>
            </a:r>
          </a:p>
          <a:p>
            <a:pPr algn="ctr">
              <a:spcBef>
                <a:spcPts val="1200"/>
              </a:spcBef>
              <a:defRPr sz="1400">
                <a:solidFill>
                  <a:srgbClr val="FFFFFF"/>
                </a:solidFill>
              </a:defRPr>
            </a:pPr>
            <a:r>
              <a:t>Frontier: 1.1 exaFLOPS</a:t>
            </a:r>
            <a:br/>
            <a:r>
              <a:t>Aurora, El Capitan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931920" y="2286000"/>
            <a:ext cx="2194560" cy="2743200"/>
          </a:xfrm>
          <a:prstGeom prst="roundRect">
            <a:avLst/>
          </a:prstGeom>
          <a:solidFill>
            <a:srgbClr val="9664FF"/>
          </a:solidFill>
          <a:ln w="381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000" b="1">
                <a:solidFill>
                  <a:srgbClr val="FFFFFF"/>
                </a:solidFill>
              </a:defRPr>
            </a:pPr>
            <a:r>
              <a:t>Quantum</a:t>
            </a:r>
          </a:p>
          <a:p>
            <a:r>
              <a:t>Accelerators</a:t>
            </a:r>
          </a:p>
          <a:p>
            <a:pPr algn="ctr">
              <a:spcBef>
                <a:spcPts val="1200"/>
              </a:spcBef>
              <a:defRPr sz="1400">
                <a:solidFill>
                  <a:srgbClr val="FFFFFF"/>
                </a:solidFill>
              </a:defRPr>
            </a:pPr>
            <a:r>
              <a:t>Hybrid quantum-classical</a:t>
            </a:r>
            <a:br/>
            <a:r>
              <a:t>computing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92240" y="2286000"/>
            <a:ext cx="2194560" cy="2743200"/>
          </a:xfrm>
          <a:prstGeom prst="roundRect">
            <a:avLst/>
          </a:prstGeom>
          <a:solidFill>
            <a:srgbClr val="64C8FF"/>
          </a:solidFill>
          <a:ln w="381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000" b="1">
                <a:solidFill>
                  <a:srgbClr val="FFFFFF"/>
                </a:solidFill>
              </a:defRPr>
            </a:pPr>
            <a:r>
              <a:t>Neuromorphic</a:t>
            </a:r>
          </a:p>
          <a:p>
            <a:r>
              <a:t>Chips</a:t>
            </a:r>
          </a:p>
          <a:p>
            <a:pPr algn="ctr">
              <a:spcBef>
                <a:spcPts val="1200"/>
              </a:spcBef>
              <a:defRPr sz="1400">
                <a:solidFill>
                  <a:srgbClr val="FFFFFF"/>
                </a:solidFill>
              </a:defRPr>
            </a:pPr>
            <a:r>
              <a:t>Brain-inspired</a:t>
            </a:r>
            <a:br/>
            <a:r>
              <a:t>architectures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gradFill rotWithShape="1">
          <a:gsLst>
            <a:gs pos="0">
              <a:srgbClr val="192837"/>
            </a:gs>
            <a:gs pos="100000">
              <a:srgbClr val="0F1928"/>
            </a:gs>
          </a:gsLst>
          <a:lin scaled="0" ang="16200000"/>
        </a:gra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64C8FF"/>
                </a:solidFill>
              </a:defRPr>
            </a:pPr>
            <a:r>
              <a:t>Latest Research &amp; News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371600"/>
            <a:ext cx="7315200" cy="457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Bef>
                <a:spcPts val="600"/>
              </a:spcBef>
              <a:defRPr sz="2000">
                <a:solidFill>
                  <a:srgbClr val="FFFFFF"/>
                </a:solidFill>
              </a:defRPr>
            </a:pPr>
            <a:r>
              <a:t>🧬 AI-Driven HPC for Genomics</a:t>
            </a:r>
          </a:p>
          <a:p>
            <a:pPr>
              <a:spcBef>
                <a:spcPts val="600"/>
              </a:spcBef>
              <a:defRPr sz="2000">
                <a:solidFill>
                  <a:srgbClr val="FFFFFF"/>
                </a:solidFill>
              </a:defRPr>
            </a:pPr>
            <a:r>
              <a:t>   • AlphaFold 2 protein structure prediction</a:t>
            </a:r>
          </a:p>
          <a:p>
            <a:pPr>
              <a:spcBef>
                <a:spcPts val="600"/>
              </a:spcBef>
              <a:defRPr sz="2000">
                <a:solidFill>
                  <a:srgbClr val="FFFFFF"/>
                </a:solidFill>
              </a:defRPr>
            </a:pPr>
            <a:r>
              <a:t>   • Personalized medicine breakthroughs</a:t>
            </a:r>
          </a:p>
          <a:p>
            <a:pPr>
              <a:spcBef>
                <a:spcPts val="600"/>
              </a:spcBef>
              <a:defRPr sz="2000">
                <a:solidFill>
                  <a:srgbClr val="FFFFFF"/>
                </a:solidFill>
              </a:defRPr>
            </a:pPr>
          </a:p>
          <a:p>
            <a:pPr>
              <a:spcBef>
                <a:spcPts val="600"/>
              </a:spcBef>
              <a:defRPr sz="2000">
                <a:solidFill>
                  <a:srgbClr val="FFFFFF"/>
                </a:solidFill>
              </a:defRPr>
            </a:pPr>
            <a:r>
              <a:t>🦠 COVID-19 Modeling</a:t>
            </a:r>
          </a:p>
          <a:p>
            <a:pPr>
              <a:spcBef>
                <a:spcPts val="600"/>
              </a:spcBef>
              <a:defRPr sz="2000">
                <a:solidFill>
                  <a:srgbClr val="FFFFFF"/>
                </a:solidFill>
              </a:defRPr>
            </a:pPr>
            <a:r>
              <a:t>   • Record-breaking pandemic simulations</a:t>
            </a:r>
          </a:p>
          <a:p>
            <a:pPr>
              <a:spcBef>
                <a:spcPts val="600"/>
              </a:spcBef>
              <a:defRPr sz="2000">
                <a:solidFill>
                  <a:srgbClr val="FFFFFF"/>
                </a:solidFill>
              </a:defRPr>
            </a:pPr>
            <a:r>
              <a:t>   • Vaccine development acceleration</a:t>
            </a:r>
          </a:p>
          <a:p>
            <a:pPr>
              <a:spcBef>
                <a:spcPts val="600"/>
              </a:spcBef>
              <a:defRPr sz="2000">
                <a:solidFill>
                  <a:srgbClr val="FFFFFF"/>
                </a:solidFill>
              </a:defRPr>
            </a:pPr>
          </a:p>
          <a:p>
            <a:pPr>
              <a:spcBef>
                <a:spcPts val="600"/>
              </a:spcBef>
              <a:defRPr sz="2000">
                <a:solidFill>
                  <a:srgbClr val="FFFFFF"/>
                </a:solidFill>
              </a:defRPr>
            </a:pPr>
            <a:r>
              <a:t>🌍 Climate Science</a:t>
            </a:r>
          </a:p>
          <a:p>
            <a:pPr>
              <a:spcBef>
                <a:spcPts val="600"/>
              </a:spcBef>
              <a:defRPr sz="2000">
                <a:solidFill>
                  <a:srgbClr val="FFFFFF"/>
                </a:solidFill>
              </a:defRPr>
            </a:pPr>
            <a:r>
              <a:t>   • Earth system models at unprecedented resolution</a:t>
            </a:r>
          </a:p>
          <a:p>
            <a:pPr>
              <a:spcBef>
                <a:spcPts val="600"/>
              </a:spcBef>
              <a:defRPr sz="2000">
                <a:solidFill>
                  <a:srgbClr val="FFFFFF"/>
                </a:solidFill>
              </a:defRPr>
            </a:pPr>
            <a:r>
              <a:t>   • Extreme weather prediction improvements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gradFill rotWithShape="1">
          <a:gsLst>
            <a:gs pos="0">
              <a:srgbClr val="143228"/>
            </a:gs>
            <a:gs pos="100000">
              <a:srgbClr val="0A1E19"/>
            </a:gs>
          </a:gsLst>
          <a:lin scaled="0" ang="16200000"/>
        </a:gra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64FFC8"/>
                </a:solidFill>
              </a:defRPr>
            </a:pPr>
            <a:r>
              <a:t>Recent Developments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1371600" y="2286000"/>
            <a:ext cx="2743200" cy="2743200"/>
          </a:xfrm>
          <a:prstGeom prst="roundRect">
            <a:avLst/>
          </a:prstGeom>
          <a:solidFill>
            <a:srgbClr val="329632"/>
          </a:solidFill>
          <a:ln w="381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200" b="1">
                <a:solidFill>
                  <a:srgbClr val="FFFFFF"/>
                </a:solidFill>
              </a:defRPr>
            </a:pPr>
            <a:r>
              <a:t>🌱 Green HPC</a:t>
            </a:r>
          </a:p>
          <a:p>
            <a:r>
              <a:t>Initiatives</a:t>
            </a:r>
          </a:p>
          <a:p>
            <a:pPr algn="ctr">
              <a:spcBef>
                <a:spcPts val="1600"/>
              </a:spcBef>
              <a:defRPr sz="1600">
                <a:solidFill>
                  <a:srgbClr val="FFFFFF"/>
                </a:solidFill>
              </a:defRPr>
            </a:pPr>
            <a:r>
              <a:t>Renewable energy</a:t>
            </a:r>
            <a:br/>
            <a:r>
              <a:t>powered data centers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0" y="2286000"/>
            <a:ext cx="2743200" cy="2743200"/>
          </a:xfrm>
          <a:prstGeom prst="roundRect">
            <a:avLst/>
          </a:prstGeom>
          <a:solidFill>
            <a:srgbClr val="6464C8"/>
          </a:solidFill>
          <a:ln w="381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200" b="1">
                <a:solidFill>
                  <a:srgbClr val="FFFFFF"/>
                </a:solidFill>
              </a:defRPr>
            </a:pPr>
            <a:r>
              <a:t>📱 Edge Computing</a:t>
            </a:r>
          </a:p>
          <a:p>
            <a:r>
              <a:t>Integration</a:t>
            </a:r>
          </a:p>
          <a:p>
            <a:pPr algn="ctr">
              <a:spcBef>
                <a:spcPts val="1600"/>
              </a:spcBef>
              <a:defRPr sz="1600">
                <a:solidFill>
                  <a:srgbClr val="FFFFFF"/>
                </a:solidFill>
              </a:defRPr>
            </a:pPr>
            <a:r>
              <a:t>Distributed HPC</a:t>
            </a:r>
            <a:br/>
            <a:r>
              <a:t>at the edge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gradFill rotWithShape="1">
          <a:gsLst>
            <a:gs pos="0">
              <a:srgbClr val="1E1432"/>
            </a:gs>
            <a:gs pos="100000">
              <a:srgbClr val="321E46"/>
            </a:gs>
          </a:gsLst>
          <a:lin scaled="0" ang="16200000"/>
        </a:gra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C896FF"/>
                </a:solidFill>
              </a:defRPr>
            </a:pPr>
            <a:r>
              <a:t>Future Trends in HPC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371600"/>
            <a:ext cx="7315200" cy="457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Bef>
                <a:spcPts val="800"/>
              </a:spcBef>
              <a:defRPr sz="2000">
                <a:solidFill>
                  <a:srgbClr val="FFFFFF"/>
                </a:solidFill>
              </a:defRPr>
            </a:pPr>
            <a:r>
              <a:t>🔮 Quantum-HPC Fusion</a:t>
            </a:r>
          </a:p>
          <a:p>
            <a:pPr>
              <a:spcBef>
                <a:spcPts val="800"/>
              </a:spcBef>
              <a:defRPr sz="2000">
                <a:solidFill>
                  <a:srgbClr val="FFFFFF"/>
                </a:solidFill>
              </a:defRPr>
            </a:pPr>
            <a:r>
              <a:t>   • Quantum computers as HPC accelerators</a:t>
            </a:r>
          </a:p>
          <a:p>
            <a:pPr>
              <a:spcBef>
                <a:spcPts val="800"/>
              </a:spcBef>
              <a:defRPr sz="2000">
                <a:solidFill>
                  <a:srgbClr val="FFFFFF"/>
                </a:solidFill>
              </a:defRPr>
            </a:pPr>
          </a:p>
          <a:p>
            <a:pPr>
              <a:spcBef>
                <a:spcPts val="800"/>
              </a:spcBef>
              <a:defRPr sz="2000">
                <a:solidFill>
                  <a:srgbClr val="FFFFFF"/>
                </a:solidFill>
              </a:defRPr>
            </a:pPr>
            <a:r>
              <a:t>🤖 AI-HPC Convergence</a:t>
            </a:r>
          </a:p>
          <a:p>
            <a:pPr>
              <a:spcBef>
                <a:spcPts val="800"/>
              </a:spcBef>
              <a:defRPr sz="2000">
                <a:solidFill>
                  <a:srgbClr val="FFFFFF"/>
                </a:solidFill>
              </a:defRPr>
            </a:pPr>
            <a:r>
              <a:t>   • Machine learning optimizing HPC workflows</a:t>
            </a:r>
          </a:p>
          <a:p>
            <a:pPr>
              <a:spcBef>
                <a:spcPts val="800"/>
              </a:spcBef>
              <a:defRPr sz="2000">
                <a:solidFill>
                  <a:srgbClr val="FFFFFF"/>
                </a:solidFill>
              </a:defRPr>
            </a:pPr>
            <a:r>
              <a:t>   • HPC training next-gen AI models</a:t>
            </a:r>
          </a:p>
          <a:p>
            <a:pPr>
              <a:spcBef>
                <a:spcPts val="800"/>
              </a:spcBef>
              <a:defRPr sz="2000">
                <a:solidFill>
                  <a:srgbClr val="FFFFFF"/>
                </a:solidFill>
              </a:defRPr>
            </a:pPr>
          </a:p>
          <a:p>
            <a:pPr>
              <a:spcBef>
                <a:spcPts val="800"/>
              </a:spcBef>
              <a:defRPr sz="2000">
                <a:solidFill>
                  <a:srgbClr val="FFFFFF"/>
                </a:solidFill>
              </a:defRPr>
            </a:pPr>
            <a:r>
              <a:t>♻️ Sustainable Computing</a:t>
            </a:r>
          </a:p>
          <a:p>
            <a:pPr>
              <a:spcBef>
                <a:spcPts val="800"/>
              </a:spcBef>
              <a:defRPr sz="2000">
                <a:solidFill>
                  <a:srgbClr val="FFFFFF"/>
                </a:solidFill>
              </a:defRPr>
            </a:pPr>
            <a:r>
              <a:t>   • Carbon-neutral data centers by 2030</a:t>
            </a:r>
          </a:p>
          <a:p>
            <a:pPr>
              <a:spcBef>
                <a:spcPts val="800"/>
              </a:spcBef>
              <a:defRPr sz="2000">
                <a:solidFill>
                  <a:srgbClr val="FFFFFF"/>
                </a:solidFill>
              </a:defRPr>
            </a:pPr>
            <a:r>
              <a:t>   • Novel cooling technologies</a:t>
            </a:r>
          </a:p>
          <a:p>
            <a:pPr>
              <a:spcBef>
                <a:spcPts val="800"/>
              </a:spcBef>
              <a:defRPr sz="2000">
                <a:solidFill>
                  <a:srgbClr val="FFFFFF"/>
                </a:solidFill>
              </a:defRPr>
            </a:pPr>
          </a:p>
          <a:p>
            <a:pPr>
              <a:spcBef>
                <a:spcPts val="800"/>
              </a:spcBef>
              <a:defRPr sz="2000">
                <a:solidFill>
                  <a:srgbClr val="FFFFFF"/>
                </a:solidFill>
              </a:defRPr>
            </a:pPr>
            <a:r>
              <a:t>💊 Personalized Medicine</a:t>
            </a:r>
          </a:p>
          <a:p>
            <a:pPr>
              <a:spcBef>
                <a:spcPts val="800"/>
              </a:spcBef>
              <a:defRPr sz="2000">
                <a:solidFill>
                  <a:srgbClr val="FFFFFF"/>
                </a:solidFill>
              </a:defRPr>
            </a:pPr>
            <a:r>
              <a:t>   • Individual-level health simulations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gradFill rotWithShape="1">
          <a:gsLst>
            <a:gs pos="0">
              <a:srgbClr val="141E3C"/>
            </a:gs>
            <a:gs pos="100000">
              <a:srgbClr val="281450"/>
            </a:gs>
          </a:gsLst>
          <a:lin scaled="0" ang="16200000"/>
        </a:gra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96C8FF"/>
                </a:solidFill>
              </a:defRPr>
            </a:pPr>
            <a:r>
              <a:t>Future Directions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1371600" y="2286000"/>
            <a:ext cx="2194560" cy="2743200"/>
          </a:xfrm>
          <a:prstGeom prst="roundRect">
            <a:avLst/>
          </a:prstGeom>
          <a:solidFill>
            <a:srgbClr val="6496FF"/>
          </a:solidFill>
          <a:ln w="381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000" b="1">
                <a:solidFill>
                  <a:srgbClr val="FFFFFF"/>
                </a:solidFill>
              </a:defRPr>
            </a:pPr>
            <a:r>
              <a:t>🌍 Global</a:t>
            </a:r>
          </a:p>
          <a:p>
            <a:r>
              <a:t>Collaborations</a:t>
            </a:r>
          </a:p>
          <a:p>
            <a:pPr algn="ctr">
              <a:spcBef>
                <a:spcPts val="1200"/>
              </a:spcBef>
              <a:defRPr sz="1400">
                <a:solidFill>
                  <a:srgbClr val="FFFFFF"/>
                </a:solidFill>
              </a:defRPr>
            </a:pPr>
            <a:r>
              <a:t>International HPC</a:t>
            </a:r>
            <a:br/>
            <a:r>
              <a:t>networks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931920" y="2286000"/>
            <a:ext cx="2194560" cy="2743200"/>
          </a:xfrm>
          <a:prstGeom prst="roundRect">
            <a:avLst/>
          </a:prstGeom>
          <a:solidFill>
            <a:srgbClr val="FF9664"/>
          </a:solidFill>
          <a:ln w="381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000" b="1">
                <a:solidFill>
                  <a:srgbClr val="FFFFFF"/>
                </a:solidFill>
              </a:defRPr>
            </a:pPr>
            <a:r>
              <a:t>💻 Open-Source</a:t>
            </a:r>
          </a:p>
          <a:p>
            <a:r>
              <a:t>HPC</a:t>
            </a:r>
          </a:p>
          <a:p>
            <a:pPr algn="ctr">
              <a:spcBef>
                <a:spcPts val="1200"/>
              </a:spcBef>
              <a:defRPr sz="1400">
                <a:solidFill>
                  <a:srgbClr val="FFFFFF"/>
                </a:solidFill>
              </a:defRPr>
            </a:pPr>
            <a:r>
              <a:t>Democratizing</a:t>
            </a:r>
            <a:br/>
            <a:r>
              <a:t>supercomputing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92240" y="2286000"/>
            <a:ext cx="2194560" cy="2743200"/>
          </a:xfrm>
          <a:prstGeom prst="roundRect">
            <a:avLst/>
          </a:prstGeom>
          <a:solidFill>
            <a:srgbClr val="C864FF"/>
          </a:solidFill>
          <a:ln w="381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000" b="1">
                <a:solidFill>
                  <a:srgbClr val="FFFFFF"/>
                </a:solidFill>
              </a:defRPr>
            </a:pPr>
            <a:r>
              <a:t>🚀 Space-Based</a:t>
            </a:r>
          </a:p>
          <a:p>
            <a:r>
              <a:t>Clusters</a:t>
            </a:r>
          </a:p>
          <a:p>
            <a:pPr algn="ctr">
              <a:spcBef>
                <a:spcPts val="1200"/>
              </a:spcBef>
              <a:defRPr sz="1400">
                <a:solidFill>
                  <a:srgbClr val="FFFFFF"/>
                </a:solidFill>
              </a:defRPr>
            </a:pPr>
            <a:r>
              <a:t>Computing in</a:t>
            </a:r>
            <a:br/>
            <a:r>
              <a:t>orbit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gradFill rotWithShape="1">
          <a:gsLst>
            <a:gs pos="0">
              <a:srgbClr val="232346"/>
            </a:gs>
            <a:gs pos="100000">
              <a:srgbClr val="141432"/>
            </a:gs>
          </a:gsLst>
          <a:lin scaled="0" ang="16200000"/>
        </a:gra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FFC864"/>
                </a:solidFill>
              </a:defRPr>
            </a:pPr>
            <a:r>
              <a:t>Key Takeaways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1828800"/>
            <a:ext cx="6400800" cy="4114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Bef>
                <a:spcPts val="600"/>
              </a:spcBef>
              <a:defRPr sz="2000" b="1">
                <a:solidFill>
                  <a:srgbClr val="FFFFFF"/>
                </a:solidFill>
              </a:defRPr>
            </a:pPr>
            <a:r>
              <a:t>🚀 HPC Powers Innovation Across All Domains</a:t>
            </a:r>
          </a:p>
          <a:p>
            <a:pPr>
              <a:spcBef>
                <a:spcPts val="600"/>
              </a:spcBef>
              <a:defRPr sz="2000">
                <a:solidFill>
                  <a:srgbClr val="FFFFFF"/>
                </a:solidFill>
              </a:defRPr>
            </a:pPr>
          </a:p>
          <a:p>
            <a:pPr>
              <a:spcBef>
                <a:spcPts val="600"/>
              </a:spcBef>
              <a:defRPr sz="2000" b="1">
                <a:solidFill>
                  <a:srgbClr val="FFFFFF"/>
                </a:solidFill>
              </a:defRPr>
            </a:pPr>
            <a:r>
              <a:t>📊 Evolution: From early computers to exascale systems</a:t>
            </a:r>
          </a:p>
          <a:p>
            <a:pPr>
              <a:spcBef>
                <a:spcPts val="600"/>
              </a:spcBef>
              <a:defRPr sz="2000">
                <a:solidFill>
                  <a:srgbClr val="FFFFFF"/>
                </a:solidFill>
              </a:defRPr>
            </a:pPr>
          </a:p>
          <a:p>
            <a:pPr>
              <a:spcBef>
                <a:spcPts val="600"/>
              </a:spcBef>
              <a:defRPr sz="2000" b="1">
                <a:solidFill>
                  <a:srgbClr val="FFFFFF"/>
                </a:solidFill>
              </a:defRPr>
            </a:pPr>
            <a:r>
              <a:t>🔄 Diverse Technologies: Supercomputers, clusters, grids, cloud</a:t>
            </a:r>
          </a:p>
          <a:p>
            <a:pPr>
              <a:spcBef>
                <a:spcPts val="600"/>
              </a:spcBef>
              <a:defRPr sz="2000">
                <a:solidFill>
                  <a:srgbClr val="FFFFFF"/>
                </a:solidFill>
              </a:defRPr>
            </a:pPr>
          </a:p>
          <a:p>
            <a:pPr>
              <a:spcBef>
                <a:spcPts val="600"/>
              </a:spcBef>
              <a:defRPr sz="2000" b="1">
                <a:solidFill>
                  <a:srgbClr val="FFFFFF"/>
                </a:solidFill>
              </a:defRPr>
            </a:pPr>
            <a:r>
              <a:t>⚖️ Balancing Act: Performance vs. power vs. cost</a:t>
            </a:r>
          </a:p>
          <a:p>
            <a:pPr>
              <a:spcBef>
                <a:spcPts val="600"/>
              </a:spcBef>
              <a:defRPr sz="2000">
                <a:solidFill>
                  <a:srgbClr val="FFFFFF"/>
                </a:solidFill>
              </a:defRPr>
            </a:pPr>
          </a:p>
          <a:p>
            <a:pPr>
              <a:spcBef>
                <a:spcPts val="600"/>
              </a:spcBef>
              <a:defRPr sz="2000" b="1">
                <a:solidFill>
                  <a:srgbClr val="FFFFFF"/>
                </a:solidFill>
              </a:defRPr>
            </a:pPr>
            <a:r>
              <a:t>🌟 Future: Quantum, AI fusion, sustainability</a:t>
            </a:r>
          </a:p>
          <a:p>
            <a:pPr>
              <a:spcBef>
                <a:spcPts val="600"/>
              </a:spcBef>
              <a:defRPr sz="2000">
                <a:solidFill>
                  <a:srgbClr val="FFFFFF"/>
                </a:solidFill>
              </a:defRPr>
            </a:pPr>
          </a:p>
          <a:p>
            <a:pPr>
              <a:spcBef>
                <a:spcPts val="600"/>
              </a:spcBef>
              <a:defRPr sz="2000" b="1">
                <a:solidFill>
                  <a:srgbClr val="FFFFFF"/>
                </a:solidFill>
              </a:defRPr>
            </a:pPr>
            <a:r>
              <a:t>🌍 Impact: Solving humanity's greatest challenges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gradFill rotWithShape="1">
          <a:gsLst>
            <a:gs pos="0">
              <a:srgbClr val="281E3C"/>
            </a:gs>
            <a:gs pos="100000">
              <a:srgbClr val="190F28"/>
            </a:gs>
          </a:gsLst>
          <a:lin scaled="0" ang="16200000"/>
        </a:gra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FFB464"/>
                </a:solidFill>
              </a:defRPr>
            </a:pPr>
            <a:r>
              <a:t>Real-World Impact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1371600" y="2286000"/>
            <a:ext cx="2194560" cy="2743200"/>
          </a:xfrm>
          <a:prstGeom prst="roundRect">
            <a:avLst/>
          </a:prstGeom>
          <a:solidFill>
            <a:srgbClr val="3278C8"/>
          </a:solidFill>
          <a:ln w="381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200" b="1">
                <a:solidFill>
                  <a:srgbClr val="FFFFFF"/>
                </a:solidFill>
              </a:defRPr>
            </a:pPr>
            <a:r>
              <a:t>🌪️ Hurricane</a:t>
            </a:r>
          </a:p>
          <a:p>
            <a:r>
              <a:t>Prediction</a:t>
            </a:r>
          </a:p>
          <a:p>
            <a:pPr algn="ctr">
              <a:spcBef>
                <a:spcPts val="1600"/>
              </a:spcBef>
              <a:defRPr sz="1600">
                <a:solidFill>
                  <a:srgbClr val="FFFFFF"/>
                </a:solidFill>
              </a:defRPr>
            </a:pPr>
            <a:r>
              <a:t>Save lives with</a:t>
            </a:r>
            <a:br/>
            <a:r>
              <a:t>accurate forecasts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931920" y="2286000"/>
            <a:ext cx="2194560" cy="2743200"/>
          </a:xfrm>
          <a:prstGeom prst="roundRect">
            <a:avLst/>
          </a:prstGeom>
          <a:solidFill>
            <a:srgbClr val="C83296"/>
          </a:solidFill>
          <a:ln w="381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200" b="1">
                <a:solidFill>
                  <a:srgbClr val="FFFFFF"/>
                </a:solidFill>
              </a:defRPr>
            </a:pPr>
            <a:r>
              <a:t>💊 Drug</a:t>
            </a:r>
          </a:p>
          <a:p>
            <a:r>
              <a:t>Discovery</a:t>
            </a:r>
          </a:p>
          <a:p>
            <a:pPr algn="ctr">
              <a:spcBef>
                <a:spcPts val="1600"/>
              </a:spcBef>
              <a:defRPr sz="1600">
                <a:solidFill>
                  <a:srgbClr val="FFFFFF"/>
                </a:solidFill>
              </a:defRPr>
            </a:pPr>
            <a:r>
              <a:t>Faster cures for</a:t>
            </a:r>
            <a:br/>
            <a:r>
              <a:t>diseases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92240" y="2286000"/>
            <a:ext cx="2194560" cy="2743200"/>
          </a:xfrm>
          <a:prstGeom prst="roundRect">
            <a:avLst/>
          </a:prstGeom>
          <a:solidFill>
            <a:srgbClr val="6432C8"/>
          </a:solidFill>
          <a:ln w="381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200" b="1">
                <a:solidFill>
                  <a:srgbClr val="FFFFFF"/>
                </a:solidFill>
              </a:defRPr>
            </a:pPr>
            <a:r>
              <a:t>🌌 Universe</a:t>
            </a:r>
          </a:p>
          <a:p>
            <a:r>
              <a:t>Simulation</a:t>
            </a:r>
          </a:p>
          <a:p>
            <a:pPr algn="ctr">
              <a:spcBef>
                <a:spcPts val="1600"/>
              </a:spcBef>
              <a:defRPr sz="1600">
                <a:solidFill>
                  <a:srgbClr val="FFFFFF"/>
                </a:solidFill>
              </a:defRPr>
            </a:pPr>
            <a:r>
              <a:t>Understanding</a:t>
            </a:r>
            <a:br/>
            <a:r>
              <a:t>cosmic origins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gradFill rotWithShape="1">
          <a:gsLst>
            <a:gs pos="0">
              <a:srgbClr val="1E283C"/>
            </a:gs>
            <a:gs pos="100000">
              <a:srgbClr val="0F192D"/>
            </a:gs>
          </a:gsLst>
          <a:lin scaled="0" ang="16200000"/>
        </a:gra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800" b="1">
                <a:solidFill>
                  <a:srgbClr val="96FFC8"/>
                </a:solidFill>
              </a:defRPr>
            </a:pPr>
            <a:r>
              <a:t>HPC in Action: How It Works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914400" y="2286000"/>
            <a:ext cx="1828800" cy="1371600"/>
          </a:xfrm>
          <a:prstGeom prst="roundRect">
            <a:avLst/>
          </a:prstGeom>
          <a:solidFill>
            <a:srgbClr val="FF9696"/>
          </a:solidFill>
          <a:ln w="254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 b="1">
                <a:solidFill>
                  <a:srgbClr val="000000"/>
                </a:solidFill>
              </a:defRPr>
            </a:pPr>
            <a:r>
              <a:t>1. Problem</a:t>
            </a:r>
          </a:p>
          <a:p>
            <a:r>
              <a:t>Division</a:t>
            </a:r>
          </a:p>
        </p:txBody>
      </p:sp>
      <p:sp>
        <p:nvSpPr>
          <p:cNvPr id="4" name="Right Arrow 3"/>
          <p:cNvSpPr/>
          <p:nvPr/>
        </p:nvSpPr>
        <p:spPr>
          <a:xfrm>
            <a:off x="2788920" y="2834640"/>
            <a:ext cx="365760" cy="274320"/>
          </a:xfrm>
          <a:prstGeom prst="rightArrow">
            <a:avLst/>
          </a:prstGeom>
          <a:solidFill>
            <a:srgbClr val="FFFFFF"/>
          </a:solidFill>
          <a:ln>
            <a:solidFill>
              <a:srgbClr val="C8C8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2926080" y="2286000"/>
            <a:ext cx="1828800" cy="1371600"/>
          </a:xfrm>
          <a:prstGeom prst="roundRect">
            <a:avLst/>
          </a:prstGeom>
          <a:solidFill>
            <a:srgbClr val="96FF96"/>
          </a:solidFill>
          <a:ln w="254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 b="1">
                <a:solidFill>
                  <a:srgbClr val="000000"/>
                </a:solidFill>
              </a:defRPr>
            </a:pPr>
            <a:r>
              <a:t>2. Parallel</a:t>
            </a:r>
          </a:p>
          <a:p>
            <a:r>
              <a:t>Processing</a:t>
            </a:r>
          </a:p>
        </p:txBody>
      </p:sp>
      <p:sp>
        <p:nvSpPr>
          <p:cNvPr id="6" name="Right Arrow 5"/>
          <p:cNvSpPr/>
          <p:nvPr/>
        </p:nvSpPr>
        <p:spPr>
          <a:xfrm>
            <a:off x="4800600" y="2834640"/>
            <a:ext cx="365760" cy="274320"/>
          </a:xfrm>
          <a:prstGeom prst="rightArrow">
            <a:avLst/>
          </a:prstGeom>
          <a:solidFill>
            <a:srgbClr val="FFFFFF"/>
          </a:solidFill>
          <a:ln>
            <a:solidFill>
              <a:srgbClr val="C8C8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4937760" y="2286000"/>
            <a:ext cx="1828800" cy="1371600"/>
          </a:xfrm>
          <a:prstGeom prst="roundRect">
            <a:avLst/>
          </a:prstGeom>
          <a:solidFill>
            <a:srgbClr val="9696FF"/>
          </a:solidFill>
          <a:ln w="254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 b="1">
                <a:solidFill>
                  <a:srgbClr val="000000"/>
                </a:solidFill>
              </a:defRPr>
            </a:pPr>
            <a:r>
              <a:t>3. Data</a:t>
            </a:r>
          </a:p>
          <a:p>
            <a:r>
              <a:t>Aggregation</a:t>
            </a:r>
          </a:p>
        </p:txBody>
      </p:sp>
      <p:sp>
        <p:nvSpPr>
          <p:cNvPr id="8" name="Right Arrow 7"/>
          <p:cNvSpPr/>
          <p:nvPr/>
        </p:nvSpPr>
        <p:spPr>
          <a:xfrm>
            <a:off x="6812280" y="2834640"/>
            <a:ext cx="365760" cy="274320"/>
          </a:xfrm>
          <a:prstGeom prst="rightArrow">
            <a:avLst/>
          </a:prstGeom>
          <a:solidFill>
            <a:srgbClr val="FFFFFF"/>
          </a:solidFill>
          <a:ln>
            <a:solidFill>
              <a:srgbClr val="C8C8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949440" y="2286000"/>
            <a:ext cx="1828800" cy="1371600"/>
          </a:xfrm>
          <a:prstGeom prst="roundRect">
            <a:avLst/>
          </a:prstGeom>
          <a:solidFill>
            <a:srgbClr val="FFFF96"/>
          </a:solidFill>
          <a:ln w="254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 b="1">
                <a:solidFill>
                  <a:srgbClr val="000000"/>
                </a:solidFill>
              </a:defRPr>
            </a:pPr>
            <a:r>
              <a:t>4. Results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4114800"/>
            <a:ext cx="73152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000" b="1">
                <a:solidFill>
                  <a:srgbClr val="FFC864"/>
                </a:solidFill>
              </a:defRPr>
            </a:pPr>
            <a:r>
              <a:t>Performance Example:</a:t>
            </a:r>
          </a:p>
          <a:p>
            <a:pPr algn="ctr">
              <a:defRPr sz="2000" b="1">
                <a:solidFill>
                  <a:srgbClr val="FFC864"/>
                </a:solidFill>
              </a:defRPr>
            </a:pPr>
            <a:r>
              <a:t>1 Computer: 100 days → 1000 Computers: 2.4 hours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gradFill rotWithShape="1">
          <a:gsLst>
            <a:gs pos="0">
              <a:srgbClr val="321E32"/>
            </a:gs>
            <a:gs pos="100000">
              <a:srgbClr val="1E0F1E"/>
            </a:gs>
          </a:gsLst>
          <a:lin scaled="0" ang="16200000"/>
        </a:gra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800" b="1">
                <a:solidFill>
                  <a:srgbClr val="FFC8FF"/>
                </a:solidFill>
              </a:defRPr>
            </a:pPr>
            <a:r>
              <a:t>Ongoing Challenges &amp; Ethics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371600"/>
            <a:ext cx="7315200" cy="457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Bef>
                <a:spcPts val="600"/>
              </a:spcBef>
              <a:defRPr sz="1800" b="1">
                <a:solidFill>
                  <a:srgbClr val="FFFFFF"/>
                </a:solidFill>
              </a:defRPr>
            </a:pPr>
            <a:r>
              <a:t>🔒 Security Concerns</a:t>
            </a:r>
          </a:p>
          <a:p>
            <a:pPr>
              <a:spcBef>
                <a:spcPts val="600"/>
              </a:spcBef>
              <a:defRPr sz="1800">
                <a:solidFill>
                  <a:srgbClr val="FFFFFF"/>
                </a:solidFill>
              </a:defRPr>
            </a:pPr>
            <a:r>
              <a:t>   • Protecting sensitive research data</a:t>
            </a:r>
          </a:p>
          <a:p>
            <a:pPr>
              <a:spcBef>
                <a:spcPts val="600"/>
              </a:spcBef>
              <a:defRPr sz="1800">
                <a:solidFill>
                  <a:srgbClr val="FFFFFF"/>
                </a:solidFill>
              </a:defRPr>
            </a:pPr>
            <a:r>
              <a:t>   • Preventing cyber attacks on critical infrastructure</a:t>
            </a:r>
          </a:p>
          <a:p>
            <a:pPr>
              <a:spcBef>
                <a:spcPts val="600"/>
              </a:spcBef>
              <a:defRPr sz="1800">
                <a:solidFill>
                  <a:srgbClr val="FFFFFF"/>
                </a:solidFill>
              </a:defRPr>
            </a:pPr>
          </a:p>
          <a:p>
            <a:pPr>
              <a:spcBef>
                <a:spcPts val="600"/>
              </a:spcBef>
              <a:defRPr sz="1800" b="1">
                <a:solidFill>
                  <a:srgbClr val="FFFFFF"/>
                </a:solidFill>
              </a:defRPr>
            </a:pPr>
            <a:r>
              <a:t>⚖️ Ethical Considerations in AI-HPC</a:t>
            </a:r>
          </a:p>
          <a:p>
            <a:pPr>
              <a:spcBef>
                <a:spcPts val="600"/>
              </a:spcBef>
              <a:defRPr sz="1800">
                <a:solidFill>
                  <a:srgbClr val="FFFFFF"/>
                </a:solidFill>
              </a:defRPr>
            </a:pPr>
            <a:r>
              <a:t>   • Bias in large-scale AI training</a:t>
            </a:r>
          </a:p>
          <a:p>
            <a:pPr>
              <a:spcBef>
                <a:spcPts val="600"/>
              </a:spcBef>
              <a:defRPr sz="1800">
                <a:solidFill>
                  <a:srgbClr val="FFFFFF"/>
                </a:solidFill>
              </a:defRPr>
            </a:pPr>
            <a:r>
              <a:t>   • Responsible use of computational power</a:t>
            </a:r>
          </a:p>
          <a:p>
            <a:pPr>
              <a:spcBef>
                <a:spcPts val="600"/>
              </a:spcBef>
              <a:defRPr sz="1800">
                <a:solidFill>
                  <a:srgbClr val="FFFFFF"/>
                </a:solidFill>
              </a:defRPr>
            </a:pPr>
          </a:p>
          <a:p>
            <a:pPr>
              <a:spcBef>
                <a:spcPts val="600"/>
              </a:spcBef>
              <a:defRPr sz="1800" b="1">
                <a:solidFill>
                  <a:srgbClr val="FFFFFF"/>
                </a:solidFill>
              </a:defRPr>
            </a:pPr>
            <a:r>
              <a:t>🌍 Environmental Impact</a:t>
            </a:r>
          </a:p>
          <a:p>
            <a:pPr>
              <a:spcBef>
                <a:spcPts val="600"/>
              </a:spcBef>
              <a:defRPr sz="1800">
                <a:solidFill>
                  <a:srgbClr val="FFFFFF"/>
                </a:solidFill>
              </a:defRPr>
            </a:pPr>
            <a:r>
              <a:t>   • Balancing performance with sustainability</a:t>
            </a:r>
          </a:p>
          <a:p>
            <a:pPr>
              <a:spcBef>
                <a:spcPts val="600"/>
              </a:spcBef>
              <a:defRPr sz="1800">
                <a:solidFill>
                  <a:srgbClr val="FFFFFF"/>
                </a:solidFill>
              </a:defRPr>
            </a:pPr>
          </a:p>
          <a:p>
            <a:pPr>
              <a:spcBef>
                <a:spcPts val="600"/>
              </a:spcBef>
              <a:defRPr sz="1800" b="1">
                <a:solidFill>
                  <a:srgbClr val="FFFFFF"/>
                </a:solidFill>
              </a:defRPr>
            </a:pPr>
            <a:r>
              <a:t>💡 Innovations Addressing These Issues</a:t>
            </a:r>
          </a:p>
          <a:p>
            <a:pPr>
              <a:spcBef>
                <a:spcPts val="600"/>
              </a:spcBef>
              <a:defRPr sz="1800">
                <a:solidFill>
                  <a:srgbClr val="FFFFFF"/>
                </a:solidFill>
              </a:defRPr>
            </a:pPr>
            <a:r>
              <a:t>   • Quantum-resistant encryption</a:t>
            </a:r>
          </a:p>
          <a:p>
            <a:pPr>
              <a:spcBef>
                <a:spcPts val="600"/>
              </a:spcBef>
              <a:defRPr sz="1800">
                <a:solidFill>
                  <a:srgbClr val="FFFFFF"/>
                </a:solidFill>
              </a:defRPr>
            </a:pPr>
            <a:r>
              <a:t>   • Transparent AI governance frameworks</a:t>
            </a:r>
          </a:p>
          <a:p>
            <a:pPr>
              <a:spcBef>
                <a:spcPts val="600"/>
              </a:spcBef>
              <a:defRPr sz="1800">
                <a:solidFill>
                  <a:srgbClr val="FFFFFF"/>
                </a:solidFill>
              </a:defRPr>
            </a:pPr>
            <a:r>
              <a:t>   • Green computing initiatives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gradFill rotWithShape="1">
          <a:gsLst>
            <a:gs pos="0">
              <a:srgbClr val="1E0A32"/>
            </a:gs>
            <a:gs pos="100000">
              <a:srgbClr val="3C1450"/>
            </a:gs>
          </a:gsLst>
          <a:lin scaled="0" ang="16200000"/>
        </a:gra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828800"/>
            <a:ext cx="73152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6000" b="1">
                <a:solidFill>
                  <a:srgbClr val="FFDC64"/>
                </a:solidFill>
              </a:defRPr>
            </a:pPr>
            <a:r>
              <a:t>Thank You!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474720"/>
            <a:ext cx="73152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000" b="1">
                <a:solidFill>
                  <a:srgbClr val="96DCFF"/>
                </a:solidFill>
              </a:defRPr>
            </a:pPr>
            <a:r>
              <a:t>Questions &amp; Answers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828800" y="5029200"/>
            <a:ext cx="54864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800">
                <a:solidFill>
                  <a:srgbClr val="C8C8C8"/>
                </a:solidFill>
              </a:defRPr>
            </a:pPr>
            <a:r>
              <a:t>Contact: [Your Name]</a:t>
            </a:r>
          </a:p>
          <a:p>
            <a:pPr algn="ctr">
              <a:defRPr sz="1800">
                <a:solidFill>
                  <a:srgbClr val="C8C8C8"/>
                </a:solidFill>
              </a:defRPr>
            </a:pPr>
            <a:r>
              <a:t>[Your Email/Institution]</a:t>
            </a:r>
          </a:p>
        </p:txBody>
      </p:sp>
      <p:sp>
        <p:nvSpPr>
          <p:cNvPr id="5" name="Oval 4"/>
          <p:cNvSpPr/>
          <p:nvPr/>
        </p:nvSpPr>
        <p:spPr>
          <a:xfrm>
            <a:off x="914400" y="457200"/>
            <a:ext cx="365760" cy="365760"/>
          </a:xfrm>
          <a:prstGeom prst="ellipse">
            <a:avLst/>
          </a:prstGeom>
          <a:solidFill>
            <a:srgbClr val="FFDC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920240" y="822960"/>
            <a:ext cx="365760" cy="365760"/>
          </a:xfrm>
          <a:prstGeom prst="ellipse">
            <a:avLst/>
          </a:prstGeom>
          <a:solidFill>
            <a:srgbClr val="FFD26E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2926080" y="457200"/>
            <a:ext cx="365760" cy="365760"/>
          </a:xfrm>
          <a:prstGeom prst="ellipse">
            <a:avLst/>
          </a:prstGeom>
          <a:solidFill>
            <a:srgbClr val="FFC878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3931920" y="822960"/>
            <a:ext cx="365760" cy="365760"/>
          </a:xfrm>
          <a:prstGeom prst="ellipse">
            <a:avLst/>
          </a:prstGeom>
          <a:solidFill>
            <a:srgbClr val="FFBE82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4937760" y="457200"/>
            <a:ext cx="365760" cy="365760"/>
          </a:xfrm>
          <a:prstGeom prst="ellipse">
            <a:avLst/>
          </a:prstGeom>
          <a:solidFill>
            <a:srgbClr val="FFB48C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5943600" y="822960"/>
            <a:ext cx="365760" cy="365760"/>
          </a:xfrm>
          <a:prstGeom prst="ellipse">
            <a:avLst/>
          </a:prstGeom>
          <a:solidFill>
            <a:srgbClr val="FFAA96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949440" y="457200"/>
            <a:ext cx="365760" cy="365760"/>
          </a:xfrm>
          <a:prstGeom prst="ellipse">
            <a:avLst/>
          </a:prstGeom>
          <a:solidFill>
            <a:srgbClr val="FFA0A0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55280" y="822960"/>
            <a:ext cx="365760" cy="365760"/>
          </a:xfrm>
          <a:prstGeom prst="ellipse">
            <a:avLst/>
          </a:prstGeom>
          <a:solidFill>
            <a:srgbClr val="FF96AA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